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aleway"/>
      <p:regular r:id="rId12"/>
      <p:bold r:id="rId13"/>
      <p:italic r:id="rId14"/>
      <p:boldItalic r:id="rId15"/>
    </p:embeddedFont>
    <p:embeddedFont>
      <p:font typeface="La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bold.fntdata"/><Relationship Id="rId12"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Italic.fntdata"/><Relationship Id="rId14" Type="http://schemas.openxmlformats.org/officeDocument/2006/relationships/font" Target="fonts/Raleway-italic.fntdata"/><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notesMaster" Target="notesMasters/notesMaster1.xml"/><Relationship Id="rId19" Type="http://schemas.openxmlformats.org/officeDocument/2006/relationships/font" Target="fonts/Lato-boldItalic.fntdata"/><Relationship Id="rId6" Type="http://schemas.openxmlformats.org/officeDocument/2006/relationships/slide" Target="slides/slide1.xml"/><Relationship Id="rId18"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f21b3b6c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f21b3b6c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f21b3b6ce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f21b3b6ce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f220808f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f220808f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f220808fd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f220808fd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f21b3b6ce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f21b3b6ce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f21b3b6ce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f21b3b6ce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428625" y="630225"/>
            <a:ext cx="8274600" cy="154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Semantic </a:t>
            </a:r>
            <a:r>
              <a:rPr lang="en"/>
              <a:t>Segmentation </a:t>
            </a:r>
            <a:endParaRPr/>
          </a:p>
          <a:p>
            <a:pPr indent="0" lvl="0" marL="0" rtl="0" algn="l">
              <a:spcBef>
                <a:spcPts val="0"/>
              </a:spcBef>
              <a:spcAft>
                <a:spcPts val="0"/>
              </a:spcAft>
              <a:buNone/>
            </a:pPr>
            <a:r>
              <a:rPr lang="en"/>
              <a:t>For Autonomous Vehicles</a:t>
            </a:r>
            <a:endParaRPr/>
          </a:p>
        </p:txBody>
      </p:sp>
      <p:sp>
        <p:nvSpPr>
          <p:cNvPr id="73" name="Google Shape;73;p13"/>
          <p:cNvSpPr txBox="1"/>
          <p:nvPr>
            <p:ph idx="1" type="subTitle"/>
          </p:nvPr>
        </p:nvSpPr>
        <p:spPr>
          <a:xfrm>
            <a:off x="495827" y="2927700"/>
            <a:ext cx="8207400" cy="1241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Surya Y</a:t>
            </a:r>
            <a:endParaRPr/>
          </a:p>
          <a:p>
            <a:pPr indent="0" lvl="0" marL="0" rtl="0" algn="l">
              <a:spcBef>
                <a:spcPts val="0"/>
              </a:spcBef>
              <a:spcAft>
                <a:spcPts val="0"/>
              </a:spcAft>
              <a:buNone/>
            </a:pPr>
            <a:r>
              <a:rPr lang="en"/>
              <a:t>RV College of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428625" y="575950"/>
            <a:ext cx="82932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 Net : Improvement on traditional CNNs</a:t>
            </a:r>
            <a:endParaRPr/>
          </a:p>
        </p:txBody>
      </p:sp>
      <p:sp>
        <p:nvSpPr>
          <p:cNvPr id="79" name="Google Shape;79;p14"/>
          <p:cNvSpPr txBox="1"/>
          <p:nvPr>
            <p:ph idx="1" type="body"/>
          </p:nvPr>
        </p:nvSpPr>
        <p:spPr>
          <a:xfrm>
            <a:off x="425400" y="1338600"/>
            <a:ext cx="3939600" cy="330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450">
                <a:solidFill>
                  <a:srgbClr val="161B3D"/>
                </a:solidFill>
                <a:highlight>
                  <a:srgbClr val="FFFFFF"/>
                </a:highlight>
                <a:latin typeface="Arial"/>
                <a:ea typeface="Arial"/>
                <a:cs typeface="Arial"/>
                <a:sym typeface="Arial"/>
              </a:rPr>
              <a:t>U-Net proposes a new approach to solve the information loss problem. It proposes to send information to every upsampling layer in decoder from the corresponding down sampling layer in the encoder as can be seen in the figure above thus capturing finer information whilst also keeping the computation low. Since the layers at the beginning of the encoder would have more information they would bolster the up sampling operation of decoder by providing fine details corresponding to the input images thus improving the results a lot.</a:t>
            </a:r>
            <a:endParaRPr/>
          </a:p>
        </p:txBody>
      </p:sp>
      <p:pic>
        <p:nvPicPr>
          <p:cNvPr id="80" name="Google Shape;80;p14"/>
          <p:cNvPicPr preferRelativeResize="0"/>
          <p:nvPr/>
        </p:nvPicPr>
        <p:blipFill>
          <a:blip r:embed="rId3">
            <a:alphaModFix/>
          </a:blip>
          <a:stretch>
            <a:fillRect/>
          </a:stretch>
        </p:blipFill>
        <p:spPr>
          <a:xfrm>
            <a:off x="4394174" y="1524500"/>
            <a:ext cx="4486050" cy="2929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495750" y="575950"/>
            <a:ext cx="82260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r>
              <a:rPr lang="en"/>
              <a:t> </a:t>
            </a:r>
            <a:endParaRPr/>
          </a:p>
        </p:txBody>
      </p:sp>
      <p:sp>
        <p:nvSpPr>
          <p:cNvPr id="86" name="Google Shape;86;p15"/>
          <p:cNvSpPr txBox="1"/>
          <p:nvPr>
            <p:ph idx="1" type="body"/>
          </p:nvPr>
        </p:nvSpPr>
        <p:spPr>
          <a:xfrm>
            <a:off x="495746" y="1211350"/>
            <a:ext cx="8226000" cy="3002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58"/>
              <a:buNone/>
            </a:pPr>
            <a:r>
              <a:rPr lang="en" sz="1385"/>
              <a:t>Data Augmentation : </a:t>
            </a:r>
            <a:endParaRPr sz="1385"/>
          </a:p>
          <a:p>
            <a:pPr indent="-316547" lvl="0" marL="457200" rtl="0" algn="l">
              <a:lnSpc>
                <a:spcPct val="115000"/>
              </a:lnSpc>
              <a:spcBef>
                <a:spcPts val="1200"/>
              </a:spcBef>
              <a:spcAft>
                <a:spcPts val="0"/>
              </a:spcAft>
              <a:buSzPts val="1385"/>
              <a:buChar char="●"/>
            </a:pPr>
            <a:r>
              <a:rPr lang="en" sz="1385"/>
              <a:t>Rotation : Maximum 10 degree rotation for an image</a:t>
            </a:r>
            <a:endParaRPr sz="1385"/>
          </a:p>
          <a:p>
            <a:pPr indent="-316547" lvl="0" marL="457200" rtl="0" algn="l">
              <a:lnSpc>
                <a:spcPct val="115000"/>
              </a:lnSpc>
              <a:spcBef>
                <a:spcPts val="0"/>
              </a:spcBef>
              <a:spcAft>
                <a:spcPts val="0"/>
              </a:spcAft>
              <a:buSzPts val="1385"/>
              <a:buChar char="●"/>
            </a:pPr>
            <a:r>
              <a:rPr lang="en" sz="1385"/>
              <a:t>Flip : Flipping of images left to right</a:t>
            </a:r>
            <a:endParaRPr sz="1385"/>
          </a:p>
          <a:p>
            <a:pPr indent="0" lvl="0" marL="0" rtl="0" algn="l">
              <a:lnSpc>
                <a:spcPct val="115000"/>
              </a:lnSpc>
              <a:spcBef>
                <a:spcPts val="1200"/>
              </a:spcBef>
              <a:spcAft>
                <a:spcPts val="0"/>
              </a:spcAft>
              <a:buSzPts val="358"/>
              <a:buNone/>
            </a:pPr>
            <a:r>
              <a:rPr lang="en" sz="1385"/>
              <a:t>Reduction in number of classes : Kmeans clustering </a:t>
            </a:r>
            <a:endParaRPr sz="1385"/>
          </a:p>
          <a:p>
            <a:pPr indent="0" lvl="0" marL="0" rtl="0" algn="l">
              <a:lnSpc>
                <a:spcPct val="115000"/>
              </a:lnSpc>
              <a:spcBef>
                <a:spcPts val="1200"/>
              </a:spcBef>
              <a:spcAft>
                <a:spcPts val="0"/>
              </a:spcAft>
              <a:buSzPts val="358"/>
              <a:buNone/>
            </a:pPr>
            <a:r>
              <a:rPr lang="en" sz="1385"/>
              <a:t>Mask Enhancement : Histogram Equalization </a:t>
            </a:r>
            <a:endParaRPr sz="1385"/>
          </a:p>
          <a:p>
            <a:pPr indent="0" lvl="0" marL="0" rtl="0" algn="l">
              <a:lnSpc>
                <a:spcPct val="115000"/>
              </a:lnSpc>
              <a:spcBef>
                <a:spcPts val="1200"/>
              </a:spcBef>
              <a:spcAft>
                <a:spcPts val="0"/>
              </a:spcAft>
              <a:buSzPts val="358"/>
              <a:buNone/>
            </a:pPr>
            <a:r>
              <a:rPr lang="en" sz="1385"/>
              <a:t>Neural Network Architecture : U-Net with 3 Convolution Blocks(  9 Million Parameters )</a:t>
            </a:r>
            <a:endParaRPr sz="1385"/>
          </a:p>
          <a:p>
            <a:pPr indent="0" lvl="0" marL="0" rtl="0" algn="l">
              <a:lnSpc>
                <a:spcPct val="115000"/>
              </a:lnSpc>
              <a:spcBef>
                <a:spcPts val="1200"/>
              </a:spcBef>
              <a:spcAft>
                <a:spcPts val="0"/>
              </a:spcAft>
              <a:buSzPts val="358"/>
              <a:buNone/>
            </a:pPr>
            <a:r>
              <a:rPr lang="en" sz="1385"/>
              <a:t>Training :</a:t>
            </a:r>
            <a:endParaRPr sz="1385"/>
          </a:p>
          <a:p>
            <a:pPr indent="-316547" lvl="0" marL="457200" rtl="0" algn="l">
              <a:lnSpc>
                <a:spcPct val="115000"/>
              </a:lnSpc>
              <a:spcBef>
                <a:spcPts val="1200"/>
              </a:spcBef>
              <a:spcAft>
                <a:spcPts val="0"/>
              </a:spcAft>
              <a:buSzPts val="1385"/>
              <a:buChar char="●"/>
            </a:pPr>
            <a:r>
              <a:rPr lang="en" sz="1385"/>
              <a:t>Optimizer : Adam</a:t>
            </a:r>
            <a:endParaRPr sz="1385"/>
          </a:p>
          <a:p>
            <a:pPr indent="-316547" lvl="0" marL="457200" rtl="0" algn="l">
              <a:lnSpc>
                <a:spcPct val="115000"/>
              </a:lnSpc>
              <a:spcBef>
                <a:spcPts val="0"/>
              </a:spcBef>
              <a:spcAft>
                <a:spcPts val="0"/>
              </a:spcAft>
              <a:buSzPts val="1385"/>
              <a:buChar char="●"/>
            </a:pPr>
            <a:r>
              <a:rPr lang="en" sz="1385"/>
              <a:t>Loss : Categorical Cross Entropy</a:t>
            </a:r>
            <a:endParaRPr sz="1385"/>
          </a:p>
          <a:p>
            <a:pPr indent="-316547" lvl="0" marL="457200" rtl="0" algn="l">
              <a:lnSpc>
                <a:spcPct val="115000"/>
              </a:lnSpc>
              <a:spcBef>
                <a:spcPts val="0"/>
              </a:spcBef>
              <a:spcAft>
                <a:spcPts val="0"/>
              </a:spcAft>
              <a:buSzPts val="1385"/>
              <a:buChar char="●"/>
            </a:pPr>
            <a:r>
              <a:rPr lang="en" sz="1385"/>
              <a:t>Number of Epochs* : 600-1200</a:t>
            </a:r>
            <a:endParaRPr sz="1385"/>
          </a:p>
          <a:p>
            <a:pPr indent="0" lvl="0" marL="0" rtl="0" algn="l">
              <a:lnSpc>
                <a:spcPct val="115000"/>
              </a:lnSpc>
              <a:spcBef>
                <a:spcPts val="1200"/>
              </a:spcBef>
              <a:spcAft>
                <a:spcPts val="0"/>
              </a:spcAft>
              <a:buSzPts val="358"/>
              <a:buNone/>
            </a:pPr>
            <a:r>
              <a:t/>
            </a:r>
            <a:endParaRPr sz="1385"/>
          </a:p>
          <a:p>
            <a:pPr indent="0" lvl="0" marL="0" rtl="0" algn="l">
              <a:lnSpc>
                <a:spcPct val="115000"/>
              </a:lnSpc>
              <a:spcBef>
                <a:spcPts val="1200"/>
              </a:spcBef>
              <a:spcAft>
                <a:spcPts val="0"/>
              </a:spcAft>
              <a:buSzPts val="358"/>
              <a:buNone/>
            </a:pPr>
            <a:r>
              <a:t/>
            </a:r>
            <a:endParaRPr sz="1385"/>
          </a:p>
          <a:p>
            <a:pPr indent="0" lvl="0" marL="457200" rtl="0" algn="l">
              <a:lnSpc>
                <a:spcPct val="115000"/>
              </a:lnSpc>
              <a:spcBef>
                <a:spcPts val="1200"/>
              </a:spcBef>
              <a:spcAft>
                <a:spcPts val="1200"/>
              </a:spcAft>
              <a:buSzPts val="358"/>
              <a:buNone/>
            </a:pPr>
            <a:r>
              <a:t/>
            </a:r>
            <a:endParaRPr sz="138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a:t>
            </a:r>
            <a:endParaRPr/>
          </a:p>
        </p:txBody>
      </p:sp>
      <p:sp>
        <p:nvSpPr>
          <p:cNvPr id="92" name="Google Shape;92;p16"/>
          <p:cNvSpPr txBox="1"/>
          <p:nvPr>
            <p:ph idx="1" type="body"/>
          </p:nvPr>
        </p:nvSpPr>
        <p:spPr>
          <a:xfrm>
            <a:off x="669272" y="1595775"/>
            <a:ext cx="8062500" cy="3002400"/>
          </a:xfrm>
          <a:prstGeom prst="rect">
            <a:avLst/>
          </a:prstGeom>
        </p:spPr>
        <p:txBody>
          <a:bodyPr anchorCtr="0" anchor="t" bIns="91425" lIns="91425" spcFirstLastPara="1" rIns="91425" wrap="square" tIns="91425">
            <a:noAutofit/>
          </a:bodyPr>
          <a:lstStyle/>
          <a:p>
            <a:pPr indent="-323532" lvl="0" marL="457200" rtl="0" algn="l">
              <a:lnSpc>
                <a:spcPct val="140000"/>
              </a:lnSpc>
              <a:spcBef>
                <a:spcPts val="0"/>
              </a:spcBef>
              <a:spcAft>
                <a:spcPts val="0"/>
              </a:spcAft>
              <a:buSzPts val="1495"/>
              <a:buChar char="●"/>
            </a:pPr>
            <a:r>
              <a:rPr lang="en" sz="1495"/>
              <a:t>Computational Power : </a:t>
            </a:r>
            <a:r>
              <a:rPr lang="en" sz="1495"/>
              <a:t>Because</a:t>
            </a:r>
            <a:r>
              <a:rPr lang="en" sz="1495"/>
              <a:t> of Upsampling, The number of trainable parameters are doubled. Training them </a:t>
            </a:r>
            <a:r>
              <a:rPr lang="en" sz="1495"/>
              <a:t>requires</a:t>
            </a:r>
            <a:r>
              <a:rPr lang="en" sz="1495"/>
              <a:t> high processing power : Can be resolved </a:t>
            </a:r>
            <a:r>
              <a:rPr lang="en" sz="1495"/>
              <a:t>with</a:t>
            </a:r>
            <a:r>
              <a:rPr lang="en" sz="1495"/>
              <a:t> better GPU/CPU</a:t>
            </a:r>
            <a:endParaRPr sz="1495"/>
          </a:p>
          <a:p>
            <a:pPr indent="-323532" lvl="0" marL="457200" rtl="0" algn="l">
              <a:lnSpc>
                <a:spcPct val="140000"/>
              </a:lnSpc>
              <a:spcBef>
                <a:spcPts val="0"/>
              </a:spcBef>
              <a:spcAft>
                <a:spcPts val="0"/>
              </a:spcAft>
              <a:buSzPts val="1495"/>
              <a:buChar char="●"/>
            </a:pPr>
            <a:r>
              <a:rPr lang="en" sz="1495"/>
              <a:t>Frame Continuity : This aspect is not considered and each image is considered as a different input</a:t>
            </a:r>
            <a:endParaRPr sz="1495"/>
          </a:p>
          <a:p>
            <a:pPr indent="-323532" lvl="0" marL="457200" rtl="0" algn="l">
              <a:lnSpc>
                <a:spcPct val="140000"/>
              </a:lnSpc>
              <a:spcBef>
                <a:spcPts val="0"/>
              </a:spcBef>
              <a:spcAft>
                <a:spcPts val="0"/>
              </a:spcAft>
              <a:buSzPts val="1495"/>
              <a:buChar char="●"/>
            </a:pPr>
            <a:r>
              <a:rPr lang="en" sz="1495"/>
              <a:t>Instance Segmentation : Unet does not support instance </a:t>
            </a:r>
            <a:r>
              <a:rPr lang="en" sz="1495"/>
              <a:t>segmentation</a:t>
            </a:r>
            <a:r>
              <a:rPr lang="en" sz="1495"/>
              <a:t>, a separate/combined network needs to be trained</a:t>
            </a:r>
            <a:endParaRPr sz="1495"/>
          </a:p>
          <a:p>
            <a:pPr indent="-323532" lvl="0" marL="457200" rtl="0" algn="l">
              <a:lnSpc>
                <a:spcPct val="140000"/>
              </a:lnSpc>
              <a:spcBef>
                <a:spcPts val="0"/>
              </a:spcBef>
              <a:spcAft>
                <a:spcPts val="0"/>
              </a:spcAft>
              <a:buSzPts val="1495"/>
              <a:buChar char="●"/>
            </a:pPr>
            <a:r>
              <a:rPr lang="en" sz="1495"/>
              <a:t>Processing capacity/</a:t>
            </a:r>
            <a:r>
              <a:rPr lang="en" sz="1495"/>
              <a:t>Compatibility</a:t>
            </a:r>
            <a:r>
              <a:rPr lang="en" sz="1495"/>
              <a:t> : Processing the image can take time : Using Caffe can speed up the process and improve </a:t>
            </a:r>
            <a:r>
              <a:rPr lang="en" sz="1495"/>
              <a:t>compatibility</a:t>
            </a:r>
            <a:endParaRPr sz="1495"/>
          </a:p>
          <a:p>
            <a:pPr indent="0" lvl="0" marL="457200" rtl="0" algn="l">
              <a:lnSpc>
                <a:spcPct val="140000"/>
              </a:lnSpc>
              <a:spcBef>
                <a:spcPts val="1200"/>
              </a:spcBef>
              <a:spcAft>
                <a:spcPts val="1200"/>
              </a:spcAft>
              <a:buSzPts val="852"/>
              <a:buNone/>
            </a:pPr>
            <a:r>
              <a:t/>
            </a:r>
            <a:endParaRPr sz="149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428625" y="575950"/>
            <a:ext cx="82932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DeepLabV3 : Atrous Convolution </a:t>
            </a:r>
            <a:endParaRPr/>
          </a:p>
        </p:txBody>
      </p:sp>
      <p:sp>
        <p:nvSpPr>
          <p:cNvPr id="98" name="Google Shape;98;p17"/>
          <p:cNvSpPr txBox="1"/>
          <p:nvPr>
            <p:ph idx="1" type="body"/>
          </p:nvPr>
        </p:nvSpPr>
        <p:spPr>
          <a:xfrm>
            <a:off x="214325" y="1263600"/>
            <a:ext cx="4082700" cy="30024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lang="en" sz="1200">
                <a:solidFill>
                  <a:srgbClr val="161B3D"/>
                </a:solidFill>
                <a:highlight>
                  <a:srgbClr val="FFFFFF"/>
                </a:highlight>
                <a:latin typeface="Arial"/>
                <a:ea typeface="Arial"/>
                <a:cs typeface="Arial"/>
                <a:sym typeface="Arial"/>
              </a:rPr>
              <a:t>Deeplab from a group of researchers from Google have proposed a multitude of techniques to improve the existing results and get finer output at lower computational costs. The 3 main improvements suggested as part of the research are</a:t>
            </a:r>
            <a:endParaRPr sz="1200">
              <a:solidFill>
                <a:srgbClr val="161B3D"/>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rPr lang="en" sz="1200">
                <a:solidFill>
                  <a:srgbClr val="161B3D"/>
                </a:solidFill>
                <a:highlight>
                  <a:srgbClr val="FFFFFF"/>
                </a:highlight>
                <a:latin typeface="Arial"/>
                <a:ea typeface="Arial"/>
                <a:cs typeface="Arial"/>
                <a:sym typeface="Arial"/>
              </a:rPr>
              <a:t>1) Atrous convolutions : Dilated convolution works by increasing the size of the filter by appending zeros to fill the gap between parameters</a:t>
            </a:r>
            <a:endParaRPr sz="1200">
              <a:solidFill>
                <a:srgbClr val="161B3D"/>
              </a:solidFill>
              <a:highlight>
                <a:srgbClr val="FFFFFF"/>
              </a:highlight>
              <a:latin typeface="Arial"/>
              <a:ea typeface="Arial"/>
              <a:cs typeface="Arial"/>
              <a:sym typeface="Arial"/>
            </a:endParaRPr>
          </a:p>
          <a:p>
            <a:pPr indent="0" lvl="0" marL="0" rtl="0" algn="l">
              <a:lnSpc>
                <a:spcPct val="115000"/>
              </a:lnSpc>
              <a:spcBef>
                <a:spcPts val="1400"/>
              </a:spcBef>
              <a:spcAft>
                <a:spcPts val="0"/>
              </a:spcAft>
              <a:buClr>
                <a:schemeClr val="dk2"/>
              </a:buClr>
              <a:buSzPts val="1100"/>
              <a:buFont typeface="Arial"/>
              <a:buNone/>
            </a:pPr>
            <a:r>
              <a:rPr lang="en" sz="1200">
                <a:solidFill>
                  <a:srgbClr val="161B3D"/>
                </a:solidFill>
                <a:highlight>
                  <a:srgbClr val="FFFFFF"/>
                </a:highlight>
                <a:latin typeface="Arial"/>
                <a:ea typeface="Arial"/>
                <a:cs typeface="Arial"/>
                <a:sym typeface="Arial"/>
              </a:rPr>
              <a:t>2) Atrous Spatial Pyramidal Pooling :  Spatial Pyramidal Pooling multi-scale information can be captured with a single input image</a:t>
            </a:r>
            <a:endParaRPr sz="1200">
              <a:solidFill>
                <a:srgbClr val="161B3D"/>
              </a:solidFill>
              <a:highlight>
                <a:srgbClr val="FFFFFF"/>
              </a:highlight>
              <a:latin typeface="Arial"/>
              <a:ea typeface="Arial"/>
              <a:cs typeface="Arial"/>
              <a:sym typeface="Arial"/>
            </a:endParaRPr>
          </a:p>
          <a:p>
            <a:pPr indent="0" lvl="0" marL="0" rtl="0" algn="l">
              <a:lnSpc>
                <a:spcPct val="115000"/>
              </a:lnSpc>
              <a:spcBef>
                <a:spcPts val="1400"/>
              </a:spcBef>
              <a:spcAft>
                <a:spcPts val="1400"/>
              </a:spcAft>
              <a:buNone/>
            </a:pPr>
            <a:r>
              <a:rPr lang="en" sz="1200">
                <a:solidFill>
                  <a:srgbClr val="161B3D"/>
                </a:solidFill>
                <a:highlight>
                  <a:srgbClr val="FFFFFF"/>
                </a:highlight>
                <a:latin typeface="Arial"/>
                <a:ea typeface="Arial"/>
                <a:cs typeface="Arial"/>
                <a:sym typeface="Arial"/>
              </a:rPr>
              <a:t>3) Conditional Random Fields usage for improving final output : Conditional Random Field operates a post-processing step and tries to improve the results produced to define shaper boundaries</a:t>
            </a:r>
            <a:endParaRPr sz="1200"/>
          </a:p>
        </p:txBody>
      </p:sp>
      <p:pic>
        <p:nvPicPr>
          <p:cNvPr id="99" name="Google Shape;99;p17"/>
          <p:cNvPicPr preferRelativeResize="0"/>
          <p:nvPr/>
        </p:nvPicPr>
        <p:blipFill>
          <a:blip r:embed="rId3">
            <a:alphaModFix/>
          </a:blip>
          <a:stretch>
            <a:fillRect/>
          </a:stretch>
        </p:blipFill>
        <p:spPr>
          <a:xfrm>
            <a:off x="4371975" y="1311838"/>
            <a:ext cx="4772026" cy="32863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428625" y="575950"/>
            <a:ext cx="8293200" cy="635400"/>
          </a:xfrm>
          <a:prstGeom prst="rect">
            <a:avLst/>
          </a:prstGeom>
        </p:spPr>
        <p:txBody>
          <a:bodyPr anchorCtr="0" anchor="t" bIns="91425" lIns="91425" spcFirstLastPara="1" rIns="91425" wrap="square" tIns="91425">
            <a:normAutofit fontScale="90000"/>
          </a:bodyPr>
          <a:lstStyle/>
          <a:p>
            <a:pPr indent="0" lvl="0" marL="0" rtl="0" algn="l">
              <a:lnSpc>
                <a:spcPct val="140000"/>
              </a:lnSpc>
              <a:spcBef>
                <a:spcPts val="400"/>
              </a:spcBef>
              <a:spcAft>
                <a:spcPts val="0"/>
              </a:spcAft>
              <a:buClr>
                <a:schemeClr val="dk2"/>
              </a:buClr>
              <a:buSzPct val="48888"/>
              <a:buFont typeface="Arial"/>
              <a:buNone/>
            </a:pPr>
            <a:r>
              <a:rPr lang="en" sz="2250">
                <a:solidFill>
                  <a:srgbClr val="161B3D"/>
                </a:solidFill>
                <a:highlight>
                  <a:srgbClr val="FFFFFF"/>
                </a:highlight>
                <a:latin typeface="Arial"/>
                <a:ea typeface="Arial"/>
                <a:cs typeface="Arial"/>
                <a:sym typeface="Arial"/>
              </a:rPr>
              <a:t>Semantic Video CNNs through Representation Warping</a:t>
            </a:r>
            <a:endParaRPr sz="2250">
              <a:solidFill>
                <a:srgbClr val="161B3D"/>
              </a:solidFill>
              <a:highlight>
                <a:srgbClr val="FFFFFF"/>
              </a:highlight>
              <a:latin typeface="Arial"/>
              <a:ea typeface="Arial"/>
              <a:cs typeface="Arial"/>
              <a:sym typeface="Arial"/>
            </a:endParaRPr>
          </a:p>
          <a:p>
            <a:pPr indent="0" lvl="0" marL="0" rtl="0" algn="l">
              <a:spcBef>
                <a:spcPts val="1900"/>
              </a:spcBef>
              <a:spcAft>
                <a:spcPts val="0"/>
              </a:spcAft>
              <a:buNone/>
            </a:pPr>
            <a:r>
              <a:t/>
            </a:r>
            <a:endParaRPr/>
          </a:p>
        </p:txBody>
      </p:sp>
      <p:sp>
        <p:nvSpPr>
          <p:cNvPr id="105" name="Google Shape;105;p18"/>
          <p:cNvSpPr txBox="1"/>
          <p:nvPr>
            <p:ph idx="1" type="body"/>
          </p:nvPr>
        </p:nvSpPr>
        <p:spPr>
          <a:xfrm>
            <a:off x="438498" y="1595775"/>
            <a:ext cx="4072800" cy="3002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450">
                <a:solidFill>
                  <a:srgbClr val="161B3D"/>
                </a:solidFill>
                <a:highlight>
                  <a:srgbClr val="FFFFFF"/>
                </a:highlight>
                <a:latin typeface="Arial"/>
                <a:ea typeface="Arial"/>
                <a:cs typeface="Arial"/>
                <a:sym typeface="Arial"/>
              </a:rPr>
              <a:t>The key ingredient that is at play is the NetWarp module. To compute the segmentation map the optical flow between the current frame and previous frame is calculated.This value is passed through a warp module which also takes as input the feature map of an intermediate layer calculated by passing through the network. This gives a warped feature map which is then combined with the intermediate feature map of the current layer and the entire network is end to end trained</a:t>
            </a:r>
            <a:endParaRPr/>
          </a:p>
        </p:txBody>
      </p:sp>
      <p:pic>
        <p:nvPicPr>
          <p:cNvPr id="106" name="Google Shape;106;p18"/>
          <p:cNvPicPr preferRelativeResize="0"/>
          <p:nvPr/>
        </p:nvPicPr>
        <p:blipFill>
          <a:blip r:embed="rId3">
            <a:alphaModFix/>
          </a:blip>
          <a:stretch>
            <a:fillRect/>
          </a:stretch>
        </p:blipFill>
        <p:spPr>
          <a:xfrm>
            <a:off x="4768425" y="2003050"/>
            <a:ext cx="4275575" cy="1943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